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3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C4C3C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C4C3C"/>
                </a:solidFill>
                <a:latin typeface="Arial"/>
              </a:rPr>
              <a:t>Class Distribution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8FA97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DB9-4E5D-A981-13488507E64F}"/>
              </c:ext>
            </c:extLst>
          </c:dPt>
          <c:dPt>
            <c:idx val="1"/>
            <c:invertIfNegative val="0"/>
            <c:bubble3D val="0"/>
            <c:spPr>
              <a:solidFill>
                <a:srgbClr val="F26B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DB9-4E5D-A981-13488507E64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C4C3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Non-Disaster (0)</c:v>
                </c:pt>
                <c:pt idx="1">
                  <c:v>Disaster (1)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4342</c:v>
                </c:pt>
                <c:pt idx="1">
                  <c:v>3271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DB9-4E5D-A981-13488507E64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1E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C4C3C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C4C3C"/>
                </a:solidFill>
                <a:latin typeface="Arial"/>
              </a:rPr>
              <a:t>ML Model Comparison (Test Set)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1C4C3C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LinearSVC</c:v>
                </c:pt>
                <c:pt idx="1">
                  <c:v>Logistic Reg.</c:v>
                </c:pt>
                <c:pt idx="2">
                  <c:v>MultinomialNB</c:v>
                </c:pt>
                <c:pt idx="3">
                  <c:v>Random Forest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</c:v>
                </c:pt>
                <c:pt idx="1">
                  <c:v>0.79</c:v>
                </c:pt>
                <c:pt idx="2">
                  <c:v>0.75</c:v>
                </c:pt>
                <c:pt idx="3">
                  <c:v>0.71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68-4B72-AA89-D120F84CECC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8FA97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LinearSVC</c:v>
                </c:pt>
                <c:pt idx="1">
                  <c:v>Logistic Reg.</c:v>
                </c:pt>
                <c:pt idx="2">
                  <c:v>MultinomialNB</c:v>
                </c:pt>
                <c:pt idx="3">
                  <c:v>Random Forest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0.81</c:v>
                </c:pt>
                <c:pt idx="1">
                  <c:v>0.8</c:v>
                </c:pt>
                <c:pt idx="2">
                  <c:v>0.77</c:v>
                </c:pt>
                <c:pt idx="3">
                  <c:v>0.74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68-4B72-AA89-D120F84CEC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5F1E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C4C3C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C4C3C"/>
                </a:solidFill>
                <a:latin typeface="Arial"/>
              </a:rPr>
              <a:t>ML vs LSTM on Held-Out Test Set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LinearSVC (ML)</c:v>
                </c:pt>
              </c:strCache>
            </c:strRef>
          </c:tx>
          <c:spPr>
            <a:solidFill>
              <a:srgbClr val="1C4C3C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  <c:pt idx="4">
                  <c:v>ROC-AUC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0.81</c:v>
                </c:pt>
                <c:pt idx="1">
                  <c:v>0.82</c:v>
                </c:pt>
                <c:pt idx="2">
                  <c:v>0.79</c:v>
                </c:pt>
                <c:pt idx="3">
                  <c:v>0.8</c:v>
                </c:pt>
                <c:pt idx="4">
                  <c:v>0.88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48-4ECD-A0A6-7711BD9CF26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LSTM (DL)</c:v>
                </c:pt>
              </c:strCache>
            </c:strRef>
          </c:tx>
          <c:spPr>
            <a:solidFill>
              <a:srgbClr val="F26B43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  <c:pt idx="4">
                  <c:v>ROC-AUC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0.78</c:v>
                </c:pt>
                <c:pt idx="1">
                  <c:v>0.79</c:v>
                </c:pt>
                <c:pt idx="2">
                  <c:v>0.76</c:v>
                </c:pt>
                <c:pt idx="3">
                  <c:v>0.77</c:v>
                </c:pt>
                <c:pt idx="4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B48-4ECD-A0A6-7711BD9CF2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5F1E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3020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2B22"/>
          </a:solidFill>
          <a:ln w="12700">
            <a:solidFill>
              <a:srgbClr val="0D2B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D2B22">
              <a:alpha val="80000"/>
            </a:srgbClr>
          </a:solidFill>
          <a:ln w="12700">
            <a:solidFill>
              <a:srgbClr val="0D2B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7315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DisasterScan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Tweet Classification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5029200" cy="4572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774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NLP + Deep Learning Pipeline for Real-Time Tweet Classification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108960"/>
            <a:ext cx="2926080" cy="1234440"/>
          </a:xfrm>
          <a:prstGeom prst="rect">
            <a:avLst/>
          </a:prstGeom>
          <a:solidFill>
            <a:srgbClr val="2D6A55">
              <a:alpha val="70000"/>
            </a:srgbClr>
          </a:solidFill>
          <a:ln w="12700">
            <a:solidFill>
              <a:srgbClr val="2D6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3108960"/>
            <a:ext cx="54864" cy="1234440"/>
          </a:xfrm>
          <a:prstGeom prst="rect">
            <a:avLst/>
          </a:prstGeom>
          <a:solidFill>
            <a:srgbClr val="8FA971"/>
          </a:solidFill>
          <a:ln w="12700">
            <a:solidFill>
              <a:srgbClr val="8FA9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0040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Aishwarya Kumar Singh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– NextHikes IT Solutions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4572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🐦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309360" y="12801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+ Deep Learning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 Disaster Detection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92240" y="2011680"/>
            <a:ext cx="2286000" cy="685800"/>
          </a:xfrm>
          <a:prstGeom prst="rect">
            <a:avLst/>
          </a:prstGeom>
          <a:solidFill>
            <a:srgbClr val="3B6B58"/>
          </a:solidFill>
          <a:ln w="12700">
            <a:solidFill>
              <a:srgbClr val="3B6B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204825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7,613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92240" y="23591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2880360"/>
            <a:ext cx="2286000" cy="685800"/>
          </a:xfrm>
          <a:prstGeom prst="rect">
            <a:avLst/>
          </a:prstGeom>
          <a:solidFill>
            <a:srgbClr val="3B6B58"/>
          </a:solidFill>
          <a:ln w="12700">
            <a:solidFill>
              <a:srgbClr val="3B6B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92240" y="29169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92240" y="32278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92240" y="3749040"/>
            <a:ext cx="2286000" cy="685800"/>
          </a:xfrm>
          <a:prstGeom prst="rect">
            <a:avLst/>
          </a:prstGeom>
          <a:solidFill>
            <a:srgbClr val="3B6B58"/>
          </a:solidFill>
          <a:ln w="12700">
            <a:solidFill>
              <a:srgbClr val="3B6B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92240" y="37856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92240" y="40965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1EB"/>
          </a:solidFill>
          <a:ln w="12700">
            <a:solidFill>
              <a:srgbClr val="F5F1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65760"/>
            <a:ext cx="1828800" cy="256032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657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56692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DisasterScan?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94360" y="1143000"/>
            <a:ext cx="5029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143000"/>
            <a:ext cx="64008" cy="109728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20700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1481328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is flooded with disaster-related tweets during emergencies. However, many tweets use disaster words metaphorically — "this traffic is a disaster" is not a real emergency. The challenge is accurately classifying the true intent.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2377440"/>
            <a:ext cx="5029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2377440"/>
            <a:ext cx="64008" cy="1097280"/>
          </a:xfrm>
          <a:prstGeom prst="rect">
            <a:avLst/>
          </a:prstGeom>
          <a:solidFill>
            <a:srgbClr val="8FA971"/>
          </a:solidFill>
          <a:ln w="12700">
            <a:solidFill>
              <a:srgbClr val="8FA9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44144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2715768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DisasterScan implements a complete ML pipeline — from raw tweet data through EDA, feature engineering, classical ML models, LSTM deep learning, evaluation, and a live Streamlit web application for real-time classification.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52160" y="1143000"/>
            <a:ext cx="3017520" cy="658368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52160" y="118872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7,613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58000" y="130759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tweets in dataset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52160" y="1965960"/>
            <a:ext cx="3017520" cy="658368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52160" y="201168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58000" y="213055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trained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52160" y="2788920"/>
            <a:ext cx="3017520" cy="658368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852160" y="283464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858000" y="295351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deep learning model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52160" y="3611880"/>
            <a:ext cx="3017520" cy="658368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852160" y="365760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858000" y="377647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DisasterScan | NLP + Deep Learning | Aishwarya Kumar Singh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22"/>
          </a:solidFill>
          <a:ln w="12700">
            <a:solidFill>
              <a:srgbClr val="0D2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8FA971"/>
          </a:solidFill>
          <a:ln w="12700">
            <a:solidFill>
              <a:srgbClr val="8FA97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1C4C3C">
              <a:alpha val="80000"/>
            </a:srgbClr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502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1188720"/>
            <a:ext cx="475488" cy="384048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8872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1887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Goals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234440" y="1563624"/>
            <a:ext cx="3017520" cy="13716"/>
          </a:xfrm>
          <a:prstGeom prst="rect">
            <a:avLst/>
          </a:prstGeom>
          <a:solidFill>
            <a:srgbClr val="3B6B58">
              <a:alpha val="60000"/>
            </a:srgbClr>
          </a:solidFill>
          <a:ln w="12700">
            <a:solidFill>
              <a:srgbClr val="3B6B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801368"/>
            <a:ext cx="475488" cy="384048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801368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180136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Project Structure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234440" y="2176272"/>
            <a:ext cx="3017520" cy="13716"/>
          </a:xfrm>
          <a:prstGeom prst="rect">
            <a:avLst/>
          </a:prstGeom>
          <a:solidFill>
            <a:srgbClr val="3B6B58">
              <a:alpha val="60000"/>
            </a:srgbClr>
          </a:solidFill>
          <a:ln w="12700">
            <a:solidFill>
              <a:srgbClr val="3B6B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414016"/>
            <a:ext cx="475488" cy="384048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41401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41401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EDA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234440" y="2788920"/>
            <a:ext cx="3017520" cy="13716"/>
          </a:xfrm>
          <a:prstGeom prst="rect">
            <a:avLst/>
          </a:prstGeom>
          <a:solidFill>
            <a:srgbClr val="3B6B58">
              <a:alpha val="60000"/>
            </a:srgbClr>
          </a:solidFill>
          <a:ln w="12700">
            <a:solidFill>
              <a:srgbClr val="3B6B5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026664"/>
            <a:ext cx="475488" cy="384048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026664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02666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ML Models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234440" y="3401568"/>
            <a:ext cx="3017520" cy="13716"/>
          </a:xfrm>
          <a:prstGeom prst="rect">
            <a:avLst/>
          </a:prstGeom>
          <a:solidFill>
            <a:srgbClr val="3B6B58">
              <a:alpha val="60000"/>
            </a:srgbClr>
          </a:solidFill>
          <a:ln w="12700">
            <a:solidFill>
              <a:srgbClr val="3B6B5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639312"/>
            <a:ext cx="475488" cy="384048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639312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34440" y="363931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— LSTM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234440" y="4014216"/>
            <a:ext cx="3017520" cy="13716"/>
          </a:xfrm>
          <a:prstGeom prst="rect">
            <a:avLst/>
          </a:prstGeom>
          <a:solidFill>
            <a:srgbClr val="3B6B58">
              <a:alpha val="60000"/>
            </a:srgbClr>
          </a:solidFill>
          <a:ln w="12700">
            <a:solidFill>
              <a:srgbClr val="3B6B5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251960"/>
            <a:ext cx="475488" cy="384048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25196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34440" y="425196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Evaluation &amp; Deployment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234440" y="4626864"/>
            <a:ext cx="3017520" cy="13716"/>
          </a:xfrm>
          <a:prstGeom prst="rect">
            <a:avLst/>
          </a:prstGeom>
          <a:solidFill>
            <a:srgbClr val="3B6B58">
              <a:alpha val="60000"/>
            </a:srgbClr>
          </a:solidFill>
          <a:ln w="12700">
            <a:solidFill>
              <a:srgbClr val="3B6B5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37760" y="640080"/>
            <a:ext cx="3474720" cy="3474720"/>
          </a:xfrm>
          <a:prstGeom prst="ellipse">
            <a:avLst/>
          </a:prstGeom>
          <a:solidFill>
            <a:srgbClr val="2D6A55">
              <a:alpha val="50000"/>
            </a:srgbClr>
          </a:solidFill>
          <a:ln w="25400">
            <a:solidFill>
              <a:srgbClr val="8FA97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DisasterScan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029200" y="20116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Pipeline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3776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Notebooks → Streamlit App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DisasterScan | NLP + Deep Learning | Aishwarya Kumar Singh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1EB"/>
          </a:solidFill>
          <a:ln w="12700">
            <a:solidFill>
              <a:srgbClr val="F5F1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47472"/>
            <a:ext cx="1828800" cy="256032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474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94360" y="109728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097280"/>
            <a:ext cx="64008" cy="347472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17043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is a critical early-warning channel during disasters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208483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keywords appear in both real &amp; metaphorical contexts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261518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presentation is a disaster" ≠ real emergency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314553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 of millions of tweets is impossible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36758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 waste emergency resources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92040" y="1097280"/>
            <a:ext cx="3931920" cy="347472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1097280"/>
            <a:ext cx="64008" cy="3474720"/>
          </a:xfrm>
          <a:prstGeom prst="rect">
            <a:avLst/>
          </a:prstGeom>
          <a:solidFill>
            <a:srgbClr val="8FA971"/>
          </a:solidFill>
          <a:ln w="12700">
            <a:solidFill>
              <a:srgbClr val="8FA9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117043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74920" y="1554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 </a:t>
            </a:r>
            <a:r>
              <a:rPr lang="en-US" sz="95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ML model predicting real vs metaphorical disaster tweets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74920" y="208483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 </a:t>
            </a:r>
            <a:r>
              <a:rPr lang="en-US" sz="95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false alarms — high precision on disaster class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74920" y="261518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 </a:t>
            </a:r>
            <a:r>
              <a:rPr lang="en-US" sz="95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slang, abbreviations, cultural nuances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74920" y="314553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 </a:t>
            </a:r>
            <a:r>
              <a:rPr lang="en-US" sz="95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large tweet volumes in real-time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74920" y="36758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 </a:t>
            </a:r>
            <a:r>
              <a:rPr lang="en-US" sz="95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Streamlit app for instant classification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DisasterScan | NLP + Deep Learning | Aishwarya Kumar Singh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1EB"/>
          </a:solidFill>
          <a:ln w="12700">
            <a:solidFill>
              <a:srgbClr val="F5F1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8FA971"/>
          </a:solidFill>
          <a:ln w="12700">
            <a:solidFill>
              <a:srgbClr val="8FA97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47472"/>
            <a:ext cx="1828800" cy="256032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474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 &amp; Dataset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94360" y="1097280"/>
            <a:ext cx="4663440" cy="3429000"/>
          </a:xfrm>
          <a:prstGeom prst="rect">
            <a:avLst/>
          </a:prstGeom>
          <a:solidFill>
            <a:srgbClr val="0D2B22"/>
          </a:solidFill>
          <a:ln w="12700">
            <a:solidFill>
              <a:srgbClr val="0D2B2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94360" y="1097280"/>
            <a:ext cx="64008" cy="3429000"/>
          </a:xfrm>
          <a:prstGeom prst="rect">
            <a:avLst/>
          </a:prstGeom>
          <a:solidFill>
            <a:srgbClr val="8FA971"/>
          </a:solidFill>
          <a:ln w="12700">
            <a:solidFill>
              <a:srgbClr val="8FA9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18872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disaster-tweet-classification/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148132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data/              # datasets (raw + processed)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181051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models/            # tfidf.pkl, best_model.pkl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2139696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lstm_model.h5, metadata.json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246888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notebooks/         # 6 Jupyter notebooks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2798064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deployment/        # app.py (Streamlit)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312724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reports/           # charts, CSVs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345643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logs/              # execution logs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3785616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README.md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40680" y="1097280"/>
            <a:ext cx="33832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40680" y="1097280"/>
            <a:ext cx="64008" cy="155448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3560" y="117043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23560" y="144475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with Disaster Tweets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23560" y="171907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7,613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23560" y="202996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Tweets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720840" y="171907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20840" y="202996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(1)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818120" y="171907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818120" y="202996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Non-Disaster (0)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2788920"/>
            <a:ext cx="33832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40680" y="2788920"/>
            <a:ext cx="64008" cy="173736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23560" y="28620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23560" y="3154680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</a:t>
            </a: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tweet identifier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23560" y="341071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 </a:t>
            </a: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keyword (may be null)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23560" y="366674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 </a:t>
            </a: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User-provided location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23560" y="3922776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 </a:t>
            </a: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tweet content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623560" y="417880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</a:t>
            </a: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Non-disaster, 1 = Disaster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DisasterScan | NLP + Deep Learning | Aishwarya Kumar Singh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2B22"/>
          </a:solidFill>
          <a:ln w="12700">
            <a:solidFill>
              <a:srgbClr val="0D2B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6576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8FA971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914400" y="12801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not to predict the future.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to classify the present.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core mission of DisasterScan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emergency responders and organisations cut through noise on social media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identify real disaster events in real time.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1EB"/>
          </a:solidFill>
          <a:ln w="12700">
            <a:solidFill>
              <a:srgbClr val="F5F1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47472"/>
            <a:ext cx="1828800" cy="256032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474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Pre-processing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94360" y="11887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188720"/>
            <a:ext cx="64008" cy="1600200"/>
          </a:xfrm>
          <a:prstGeom prst="rect">
            <a:avLst/>
          </a:prstGeom>
          <a:solidFill>
            <a:srgbClr val="8FA971"/>
          </a:solidFill>
          <a:ln w="12700">
            <a:solidFill>
              <a:srgbClr val="8FA9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280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66420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missing 'keyword' and 'location' columns with placeholder values. Handled null text fields.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37760" y="11887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1188720"/>
            <a:ext cx="64008" cy="160020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1280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Cleaning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166420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Lowercased text, removed URLs, @mentions, hashtag symbols, punctuation, and numbers.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297180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2971800"/>
            <a:ext cx="64008" cy="1600200"/>
          </a:xfrm>
          <a:prstGeom prst="rect">
            <a:avLst/>
          </a:prstGeom>
          <a:solidFill>
            <a:srgbClr val="8FA971"/>
          </a:solidFill>
          <a:ln w="12700">
            <a:solidFill>
              <a:srgbClr val="8FA9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063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44728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cleaned text into tokens using space-based tokenizer. Stored in 'tokens' column.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37760" y="297180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2971800"/>
            <a:ext cx="64008" cy="160020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3063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Creation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20640" y="344728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text_length_chars, word_count, has_hashtag, has_mention, has_url indicators.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DisasterScan | NLP + Deep Learning | Aishwarya Kumar Singh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22"/>
          </a:solidFill>
          <a:ln w="12700">
            <a:solidFill>
              <a:srgbClr val="0D2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286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6-Notebook Processing Strategy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4360" y="1097280"/>
            <a:ext cx="4206240" cy="1005840"/>
          </a:xfrm>
          <a:prstGeom prst="rect">
            <a:avLst/>
          </a:prstGeom>
          <a:solidFill>
            <a:srgbClr val="2D6A55">
              <a:alpha val="80000"/>
            </a:srgbClr>
          </a:solidFill>
          <a:ln w="6350">
            <a:solidFill>
              <a:srgbClr val="3B6B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097280"/>
            <a:ext cx="777240" cy="100584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97280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63040" y="1188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 &amp; EDA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63040" y="15087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analysis, class distribution, feature creation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0" y="1097280"/>
            <a:ext cx="4206240" cy="1005840"/>
          </a:xfrm>
          <a:prstGeom prst="rect">
            <a:avLst/>
          </a:prstGeom>
          <a:solidFill>
            <a:srgbClr val="2D6A55">
              <a:alpha val="80000"/>
            </a:srgbClr>
          </a:solidFill>
          <a:ln w="6350">
            <a:solidFill>
              <a:srgbClr val="3B6B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0" y="1097280"/>
            <a:ext cx="777240" cy="100584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097280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97880" y="1188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ML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97880" y="15087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vectorisation, 4 ML models, best model selection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" y="2286000"/>
            <a:ext cx="4206240" cy="1005840"/>
          </a:xfrm>
          <a:prstGeom prst="rect">
            <a:avLst/>
          </a:prstGeom>
          <a:solidFill>
            <a:srgbClr val="2D6A55">
              <a:alpha val="80000"/>
            </a:srgbClr>
          </a:solidFill>
          <a:ln w="6350">
            <a:solidFill>
              <a:srgbClr val="3B6B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2286000"/>
            <a:ext cx="777240" cy="100584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286000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63040" y="2377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Insights &amp; Analysis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63040" y="2697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matrix, ROC, PR curve, feature importance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0" y="2286000"/>
            <a:ext cx="4206240" cy="1005840"/>
          </a:xfrm>
          <a:prstGeom prst="rect">
            <a:avLst/>
          </a:prstGeom>
          <a:solidFill>
            <a:srgbClr val="2D6A55">
              <a:alpha val="80000"/>
            </a:srgbClr>
          </a:solidFill>
          <a:ln w="6350">
            <a:solidFill>
              <a:srgbClr val="3B6B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0" y="2286000"/>
            <a:ext cx="777240" cy="100584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286000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97880" y="2377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— LSTM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97880" y="2697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Embedding, LSTM(64), Dropout, 5 epochs, model saved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" y="3474720"/>
            <a:ext cx="4206240" cy="1005840"/>
          </a:xfrm>
          <a:prstGeom prst="rect">
            <a:avLst/>
          </a:prstGeom>
          <a:solidFill>
            <a:srgbClr val="2D6A55">
              <a:alpha val="80000"/>
            </a:srgbClr>
          </a:solidFill>
          <a:ln w="6350">
            <a:solidFill>
              <a:srgbClr val="3B6B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4360" y="3474720"/>
            <a:ext cx="777240" cy="100584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474720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63040" y="3566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Evaluation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463040" y="38862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vs LSTM comparison, threshold tuning, metadata saved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0" y="3474720"/>
            <a:ext cx="4206240" cy="1005840"/>
          </a:xfrm>
          <a:prstGeom prst="rect">
            <a:avLst/>
          </a:prstGeom>
          <a:solidFill>
            <a:srgbClr val="2D6A55">
              <a:alpha val="80000"/>
            </a:srgbClr>
          </a:solidFill>
          <a:ln w="6350">
            <a:solidFill>
              <a:srgbClr val="3B6B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29200" y="3474720"/>
            <a:ext cx="777240" cy="100584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3474720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897880" y="3566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Deployment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897880" y="38862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generated, live app launched at localhost:8501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DisasterScan | NLP + Deep Learning | Aishwarya Kumar Singh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1EB"/>
          </a:solidFill>
          <a:ln w="12700">
            <a:solidFill>
              <a:srgbClr val="F5F1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8FA971"/>
          </a:solidFill>
          <a:ln w="12700">
            <a:solidFill>
              <a:srgbClr val="8FA97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47472"/>
            <a:ext cx="1828800" cy="256032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474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Implementation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94360" y="1097280"/>
            <a:ext cx="51206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097280"/>
            <a:ext cx="64008" cy="342900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1887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Logging?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5087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notebooks use Python's built-in logging module instead of print statements — a production ML engineering best practice.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210312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logger configured at pipeline start per notebook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249631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logs for every major step — data load, model train, save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288950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Column-level transformation logs with shape/dtype details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328269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with descriptive messages for debugging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367588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file saved under logs/ directory for audit trail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406908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on every entry for traceability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97880" y="1097280"/>
            <a:ext cx="2926080" cy="342900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97880" y="1097280"/>
            <a:ext cx="64008" cy="342900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1188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Files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80760" y="1554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data_preparation.log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080760" y="1892808"/>
            <a:ext cx="2560320" cy="13716"/>
          </a:xfrm>
          <a:prstGeom prst="rect">
            <a:avLst/>
          </a:prstGeom>
          <a:solidFill>
            <a:srgbClr val="3B6B58">
              <a:alpha val="60000"/>
            </a:srgbClr>
          </a:solidFill>
          <a:ln w="12700">
            <a:solidFill>
              <a:srgbClr val="3B6B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19659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feature_engineering_model_training.log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080760" y="2304288"/>
            <a:ext cx="2560320" cy="13716"/>
          </a:xfrm>
          <a:prstGeom prst="rect">
            <a:avLst/>
          </a:prstGeom>
          <a:solidFill>
            <a:srgbClr val="3B6B58">
              <a:alpha val="60000"/>
            </a:srgbClr>
          </a:solidFill>
          <a:ln w="12700">
            <a:solidFill>
              <a:srgbClr val="3B6B5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23774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model_insights_feature_analysis.log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080760" y="2715768"/>
            <a:ext cx="2560320" cy="13716"/>
          </a:xfrm>
          <a:prstGeom prst="rect">
            <a:avLst/>
          </a:prstGeom>
          <a:solidFill>
            <a:srgbClr val="3B6B58">
              <a:alpha val="60000"/>
            </a:srgbClr>
          </a:solidFill>
          <a:ln w="12700">
            <a:solidFill>
              <a:srgbClr val="3B6B5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2788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deep_learning_lstm.log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080760" y="3127248"/>
            <a:ext cx="2560320" cy="13716"/>
          </a:xfrm>
          <a:prstGeom prst="rect">
            <a:avLst/>
          </a:prstGeom>
          <a:solidFill>
            <a:srgbClr val="3B6B58">
              <a:alpha val="60000"/>
            </a:srgbClr>
          </a:solidFill>
          <a:ln w="12700">
            <a:solidFill>
              <a:srgbClr val="3B6B5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32004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final_model_evaluation.log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80760" y="3538728"/>
            <a:ext cx="2560320" cy="13716"/>
          </a:xfrm>
          <a:prstGeom prst="rect">
            <a:avLst/>
          </a:prstGeom>
          <a:solidFill>
            <a:srgbClr val="3B6B58">
              <a:alpha val="60000"/>
            </a:srgbClr>
          </a:solidFill>
          <a:ln w="12700">
            <a:solidFill>
              <a:srgbClr val="3B6B5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36118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deployment.log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080760" y="3950208"/>
            <a:ext cx="2560320" cy="13716"/>
          </a:xfrm>
          <a:prstGeom prst="rect">
            <a:avLst/>
          </a:prstGeom>
          <a:solidFill>
            <a:srgbClr val="3B6B58">
              <a:alpha val="60000"/>
            </a:srgbClr>
          </a:solidFill>
          <a:ln w="12700">
            <a:solidFill>
              <a:srgbClr val="3B6B5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DisasterScan | NLP + Deep Learning | Aishwarya Kumar Singh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1EB"/>
          </a:solidFill>
          <a:ln w="12700">
            <a:solidFill>
              <a:srgbClr val="F5F1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47472"/>
            <a:ext cx="1828800" cy="256032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474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1 — EDA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1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94360" y="1051560"/>
          <a:ext cx="41148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4892040" y="105156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051560"/>
            <a:ext cx="64008" cy="804672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74920" y="112471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74920" y="13716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tweet length, word count, class balance. Disaster tweets are slightly longer on average.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892040" y="1947672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92040" y="1947672"/>
            <a:ext cx="64008" cy="804672"/>
          </a:xfrm>
          <a:prstGeom prst="rect">
            <a:avLst/>
          </a:prstGeom>
          <a:solidFill>
            <a:srgbClr val="8FA971"/>
          </a:solidFill>
          <a:ln w="12700">
            <a:solidFill>
              <a:srgbClr val="8FA97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74920" y="202082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74920" y="226771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length vs target class. Disaster tweets show higher word counts and more URLs.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892040" y="2843784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892040" y="2843784"/>
            <a:ext cx="64008" cy="804672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74920" y="291693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74920" y="316382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reveals low correlation between structural features and target.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892040" y="3739896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892040" y="3739896"/>
            <a:ext cx="64008" cy="804672"/>
          </a:xfrm>
          <a:prstGeom prst="rect">
            <a:avLst/>
          </a:prstGeom>
          <a:solidFill>
            <a:srgbClr val="8FA971"/>
          </a:solidFill>
          <a:ln w="12700">
            <a:solidFill>
              <a:srgbClr val="8FA97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74920" y="38130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074920" y="4059936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keywords: wildfire, flood, earthquake dominate disaster class.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DisasterScan | NLP + Deep Learning | Aishwarya Kumar Singh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1EB"/>
          </a:solidFill>
          <a:ln w="12700">
            <a:solidFill>
              <a:srgbClr val="F5F1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47472"/>
            <a:ext cx="1828800" cy="256032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474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Insights &amp; Feature Analysis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94360" y="11887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188720"/>
            <a:ext cx="64008" cy="1600200"/>
          </a:xfrm>
          <a:prstGeom prst="rect">
            <a:avLst/>
          </a:prstGeom>
          <a:solidFill>
            <a:srgbClr val="8FA971"/>
          </a:solidFill>
          <a:ln w="12700">
            <a:solidFill>
              <a:srgbClr val="8FA9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280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66420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Visualised True Positives, False Positives, True Negatives, and False Negatives on the full dataset to understand error patterns.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37760" y="11887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1188720"/>
            <a:ext cx="64008" cy="160020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1280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 &amp; AUC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166420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Plotted ROC curve showing the trade-off between True Positive Rate and False Positive Rate. AUC score quantifies overall discrimination ability.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2971800"/>
            <a:ext cx="4114800" cy="160020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2971800"/>
            <a:ext cx="64008" cy="1600200"/>
          </a:xfrm>
          <a:prstGeom prst="rect">
            <a:avLst/>
          </a:prstGeom>
          <a:solidFill>
            <a:srgbClr val="8FA971"/>
          </a:solidFill>
          <a:ln w="12700">
            <a:solidFill>
              <a:srgbClr val="8FA9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063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44728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top disaster-predicting words (fire, flood, earthquake, evacuation) and top non-disaster words. Key insight into model decision logic.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2971800"/>
            <a:ext cx="4114800" cy="160020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2971800"/>
            <a:ext cx="64008" cy="160020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3063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Misclassification Analysis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20640" y="344728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Examined 10 misclassified tweets. Short ambiguous tweets (&lt; 5 words) and sarcastic language drive most errors.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DisasterScan | NLP + Deep Learning | Aishwarya Kumar Singh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1EB"/>
          </a:solidFill>
          <a:ln w="12700">
            <a:solidFill>
              <a:srgbClr val="F5F1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8FA971"/>
          </a:solidFill>
          <a:ln w="12700">
            <a:solidFill>
              <a:srgbClr val="8FA97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47472"/>
            <a:ext cx="1828800" cy="256032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474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ML Models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94360" y="1097280"/>
            <a:ext cx="4114800" cy="150876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097280"/>
            <a:ext cx="64008" cy="1508760"/>
          </a:xfrm>
          <a:prstGeom prst="rect">
            <a:avLst/>
          </a:prstGeom>
          <a:solidFill>
            <a:srgbClr val="8FA971"/>
          </a:solidFill>
          <a:ln w="12700">
            <a:solidFill>
              <a:srgbClr val="8FA9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1704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Vectorisation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15087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max_features = 5,000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77240" y="176479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ngram_range = (1, 2)  — unigrams + bigrams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77240" y="202082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min_df = 5  |  max_df = 0.8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7240" y="227685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sublinear_tf = True  — log-scaled frequency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2724912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2724912"/>
            <a:ext cx="64008" cy="731520"/>
          </a:xfrm>
          <a:prstGeom prst="rect">
            <a:avLst/>
          </a:prstGeom>
          <a:solidFill>
            <a:srgbClr val="8FA971"/>
          </a:solidFill>
          <a:ln w="12700">
            <a:solidFill>
              <a:srgbClr val="8FA9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7797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0540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Support Vector Classifier. Strongest baseline for text classification. Calibrated for probabilities.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37760" y="2724912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2724912"/>
            <a:ext cx="64008" cy="73152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27797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0" y="30540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classifier. Good interpretability and fast inference.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3593592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3593592"/>
            <a:ext cx="64008" cy="731520"/>
          </a:xfrm>
          <a:prstGeom prst="rect">
            <a:avLst/>
          </a:prstGeom>
          <a:solidFill>
            <a:srgbClr val="8FA971"/>
          </a:solidFill>
          <a:ln w="12700">
            <a:solidFill>
              <a:srgbClr val="8FA9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6484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392277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for word frequency features. Fast training on large vocabularies.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37760" y="3593592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37760" y="3593592"/>
            <a:ext cx="64008" cy="73152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6484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20640" y="392277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decision trees ensemble. Captures non-linear feature interactions.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92040" y="109728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92040" y="1097280"/>
            <a:ext cx="64008" cy="150876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11704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74920" y="148132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 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
</a:t>
            </a:r>
            <a:r>
              <a:rPr lang="en-US" sz="22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 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
</a:t>
            </a: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sampling — class balance preserved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DisasterScan | NLP + Deep Learning | Aishwarya Kumar Singh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1EB"/>
          </a:solidFill>
          <a:ln w="12700">
            <a:solidFill>
              <a:srgbClr val="F5F1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47472"/>
            <a:ext cx="1828800" cy="256032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474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EVALUATION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 Results</a:t>
            </a:r>
            <a:endParaRPr lang="en-US" sz="21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94360" y="1097280"/>
          <a:ext cx="502920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806440" y="1097280"/>
            <a:ext cx="3017520" cy="352044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06440" y="1097280"/>
            <a:ext cx="64008" cy="352044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11887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89320" y="1508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5989320" y="2084832"/>
            <a:ext cx="2651760" cy="347472"/>
          </a:xfrm>
          <a:prstGeom prst="rect">
            <a:avLst/>
          </a:prstGeom>
          <a:solidFill>
            <a:srgbClr val="2D6A55">
              <a:alpha val="70000"/>
            </a:srgbClr>
          </a:solidFill>
          <a:ln w="12700">
            <a:solidFill>
              <a:srgbClr val="3B6B5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80760" y="21214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15200" y="212140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~0.80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89320" y="2523744"/>
            <a:ext cx="2651760" cy="347472"/>
          </a:xfrm>
          <a:prstGeom prst="rect">
            <a:avLst/>
          </a:prstGeom>
          <a:solidFill>
            <a:srgbClr val="2D6A55">
              <a:alpha val="70000"/>
            </a:srgbClr>
          </a:solidFill>
          <a:ln w="12700">
            <a:solidFill>
              <a:srgbClr val="3B6B5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80760" y="2560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315200" y="25603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~0.81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989320" y="2962656"/>
            <a:ext cx="2651760" cy="347472"/>
          </a:xfrm>
          <a:prstGeom prst="rect">
            <a:avLst/>
          </a:prstGeom>
          <a:solidFill>
            <a:srgbClr val="2D6A55">
              <a:alpha val="70000"/>
            </a:srgbClr>
          </a:solidFill>
          <a:ln w="12700">
            <a:solidFill>
              <a:srgbClr val="3B6B5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80760" y="29992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315200" y="299923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~0.82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989320" y="3401568"/>
            <a:ext cx="2651760" cy="347472"/>
          </a:xfrm>
          <a:prstGeom prst="rect">
            <a:avLst/>
          </a:prstGeom>
          <a:solidFill>
            <a:srgbClr val="2D6A55">
              <a:alpha val="70000"/>
            </a:srgbClr>
          </a:solidFill>
          <a:ln w="12700">
            <a:solidFill>
              <a:srgbClr val="3B6B5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80760" y="34381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315200" y="343814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~0.79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989320" y="3840480"/>
            <a:ext cx="2651760" cy="347472"/>
          </a:xfrm>
          <a:prstGeom prst="rect">
            <a:avLst/>
          </a:prstGeom>
          <a:solidFill>
            <a:srgbClr val="2D6A55">
              <a:alpha val="70000"/>
            </a:srgbClr>
          </a:solidFill>
          <a:ln w="12700">
            <a:solidFill>
              <a:srgbClr val="3B6B5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080760" y="387705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F1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315200" y="387705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~0.79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DisasterScan | NLP + Deep Learning | Aishwarya Kumar Singh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22"/>
          </a:solidFill>
          <a:ln w="12700">
            <a:solidFill>
              <a:srgbClr val="0D2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8FA971"/>
          </a:solidFill>
          <a:ln w="12700">
            <a:solidFill>
              <a:srgbClr val="8FA9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— LSTM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097280"/>
            <a:ext cx="1600200" cy="960120"/>
          </a:xfrm>
          <a:prstGeom prst="rect">
            <a:avLst/>
          </a:prstGeom>
          <a:solidFill>
            <a:srgbClr val="8FA971"/>
          </a:solidFill>
          <a:ln w="12700">
            <a:solidFill>
              <a:srgbClr val="8FA97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18872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53619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E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vocab=10,000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8E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dim=128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94560" y="13716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377440" y="1097280"/>
            <a:ext cx="1463040" cy="960120"/>
          </a:xfrm>
          <a:prstGeom prst="rect">
            <a:avLst/>
          </a:prstGeom>
          <a:solidFill>
            <a:srgbClr val="2D6A55"/>
          </a:solidFill>
          <a:ln w="12700">
            <a:solidFill>
              <a:srgbClr val="2D6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77440" y="11887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77440" y="15361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E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 units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8E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sequences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840480" y="13716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023360" y="1097280"/>
            <a:ext cx="1325880" cy="960120"/>
          </a:xfrm>
          <a:prstGeom prst="rect">
            <a:avLst/>
          </a:prstGeom>
          <a:solidFill>
            <a:srgbClr val="3B6B58"/>
          </a:solidFill>
          <a:ln w="12700">
            <a:solidFill>
              <a:srgbClr val="3B6B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023360" y="118872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23360" y="153619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E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 = 0.5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349240" y="13716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532120" y="1097280"/>
            <a:ext cx="1463040" cy="960120"/>
          </a:xfrm>
          <a:prstGeom prst="rect">
            <a:avLst/>
          </a:prstGeom>
          <a:solidFill>
            <a:srgbClr val="2D6A55"/>
          </a:solidFill>
          <a:ln w="12700">
            <a:solidFill>
              <a:srgbClr val="2D6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32120" y="11887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15361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E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units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8E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ReLU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995160" y="13716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178040" y="1097280"/>
            <a:ext cx="1417320" cy="96012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78040" y="11887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78040" y="153619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E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unit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8E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Sigmoid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94360" y="2286000"/>
            <a:ext cx="1920240" cy="1188720"/>
          </a:xfrm>
          <a:prstGeom prst="rect">
            <a:avLst/>
          </a:prstGeom>
          <a:solidFill>
            <a:srgbClr val="2D6A55"/>
          </a:solidFill>
          <a:ln w="12700">
            <a:solidFill>
              <a:srgbClr val="2D6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" y="2286000"/>
            <a:ext cx="64008" cy="118872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23591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2651760"/>
            <a:ext cx="1645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vocab_size = 10,000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oov_token = &lt;OOV&gt;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697480" y="2286000"/>
            <a:ext cx="1920240" cy="1188720"/>
          </a:xfrm>
          <a:prstGeom prst="rect">
            <a:avLst/>
          </a:prstGeom>
          <a:solidFill>
            <a:srgbClr val="2D6A55"/>
          </a:solidFill>
          <a:ln w="12700">
            <a:solidFill>
              <a:srgbClr val="2D6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697480" y="2286000"/>
            <a:ext cx="64008" cy="1188720"/>
          </a:xfrm>
          <a:prstGeom prst="rect">
            <a:avLst/>
          </a:prstGeom>
          <a:solidFill>
            <a:srgbClr val="8FA971"/>
          </a:solidFill>
          <a:ln w="12700">
            <a:solidFill>
              <a:srgbClr val="8FA97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34640" y="23591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834640" y="2651760"/>
            <a:ext cx="1645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maxlen = 100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 = 'post'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2286000"/>
            <a:ext cx="1920240" cy="1188720"/>
          </a:xfrm>
          <a:prstGeom prst="rect">
            <a:avLst/>
          </a:prstGeom>
          <a:solidFill>
            <a:srgbClr val="2D6A55"/>
          </a:solidFill>
          <a:ln w="12700">
            <a:solidFill>
              <a:srgbClr val="2D6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2286000"/>
            <a:ext cx="64008" cy="118872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23591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37760" y="2651760"/>
            <a:ext cx="1645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epochs = 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batch_size = 32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val_split = 0.2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903720" y="2286000"/>
            <a:ext cx="1920240" cy="1188720"/>
          </a:xfrm>
          <a:prstGeom prst="rect">
            <a:avLst/>
          </a:prstGeom>
          <a:solidFill>
            <a:srgbClr val="2D6A55"/>
          </a:solidFill>
          <a:ln w="12700">
            <a:solidFill>
              <a:srgbClr val="2D6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903720" y="2286000"/>
            <a:ext cx="64008" cy="1188720"/>
          </a:xfrm>
          <a:prstGeom prst="rect">
            <a:avLst/>
          </a:prstGeom>
          <a:solidFill>
            <a:srgbClr val="8FA971"/>
          </a:solidFill>
          <a:ln w="12700">
            <a:solidFill>
              <a:srgbClr val="8FA97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40880" y="23591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040880" y="2651760"/>
            <a:ext cx="1645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binary_crossentropy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94360" y="3657600"/>
            <a:ext cx="8229600" cy="82296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94360" y="3657600"/>
            <a:ext cx="64008" cy="82296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37490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Results: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286000" y="37307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F1-Score: 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200400" y="37307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~0.77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572000" y="37307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486400" y="37307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~0.78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858000" y="37307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Saved: 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772400" y="37307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lstm_model.h5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77240" y="404164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history saved as lstm_history.json for NB5 accuracy curve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DisasterScan | NLP + Deep Learning | Aishwarya Kumar Singh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1EB"/>
          </a:solidFill>
          <a:ln w="12700">
            <a:solidFill>
              <a:srgbClr val="F5F1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47472"/>
            <a:ext cx="1828800" cy="256032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474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Comparison — ML vs LSTM</a:t>
            </a:r>
            <a:endParaRPr lang="en-US" sz="21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94360" y="1097280"/>
          <a:ext cx="548640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6263640" y="1097280"/>
            <a:ext cx="2560320" cy="352044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63640" y="1097280"/>
            <a:ext cx="64008" cy="3520440"/>
          </a:xfrm>
          <a:prstGeom prst="rect">
            <a:avLst/>
          </a:prstGeom>
          <a:solidFill>
            <a:srgbClr val="8FA971"/>
          </a:solidFill>
          <a:ln w="12700">
            <a:solidFill>
              <a:srgbClr val="8FA97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46520" y="1188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46520" y="15087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44652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F1 on test set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46520" y="27157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inference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46520" y="314553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required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46520" y="357530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features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446520" y="40050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446520" y="4297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tuned: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0.30–0.80 sweep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≥ 0.50 clamped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DisasterScan | NLP + Deep Learning | Aishwarya Kumar Singh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1EB"/>
          </a:solidFill>
          <a:ln w="12700">
            <a:solidFill>
              <a:srgbClr val="F5F1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47472"/>
            <a:ext cx="1828800" cy="256032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474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6 — DEPLOYMENT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Deployment Architecture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94360" y="1097280"/>
            <a:ext cx="2011680" cy="118872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188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model_metadata.json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E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NB5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606040" y="1463040"/>
            <a:ext cx="155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761488" y="1097280"/>
            <a:ext cx="2011680" cy="1188720"/>
          </a:xfrm>
          <a:prstGeom prst="rect">
            <a:avLst/>
          </a:prstGeom>
          <a:solidFill>
            <a:srgbClr val="3B6B58"/>
          </a:solidFill>
          <a:ln w="12700">
            <a:solidFill>
              <a:srgbClr val="3B6B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61488" y="1188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61488" y="1691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tfidf.pkl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E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lstm_model.h5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73168" y="1463040"/>
            <a:ext cx="155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928616" y="1097280"/>
            <a:ext cx="2011680" cy="1188720"/>
          </a:xfrm>
          <a:prstGeom prst="rect">
            <a:avLst/>
          </a:prstGeom>
          <a:solidFill>
            <a:srgbClr val="2D6A55"/>
          </a:solidFill>
          <a:ln w="12700">
            <a:solidFill>
              <a:srgbClr val="2D6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28616" y="1188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28616" y="1691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UI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E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W() writer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940296" y="1463040"/>
            <a:ext cx="155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095744" y="1097280"/>
            <a:ext cx="2011680" cy="118872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95744" y="1188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95744" y="1691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webbrowser.open()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E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localhost:8501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94360" y="242316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2423160"/>
            <a:ext cx="64008" cy="1051560"/>
          </a:xfrm>
          <a:prstGeom prst="rect">
            <a:avLst/>
          </a:prstGeom>
          <a:solidFill>
            <a:srgbClr val="8FA971"/>
          </a:solidFill>
          <a:ln w="12700">
            <a:solidFill>
              <a:srgbClr val="8FA9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25146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Tweet Tab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280720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or pick an example tweet. Instant verdict with [DISASTER] / [SAFE] card, Plotly confidence gauge, and probability split bar.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37760" y="242316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37760" y="2423160"/>
            <a:ext cx="64008" cy="105156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25146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CSV Tab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20640" y="280720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CSV with 'text' column. Progress bar, summary stats (total/disaster/safe), optional accuracy if 'target' column present.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4360" y="361188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4360" y="3611880"/>
            <a:ext cx="64008" cy="1051560"/>
          </a:xfrm>
          <a:prstGeom prst="rect">
            <a:avLst/>
          </a:prstGeom>
          <a:solidFill>
            <a:srgbClr val="8FA971"/>
          </a:solidFill>
          <a:ln w="12700">
            <a:solidFill>
              <a:srgbClr val="8FA9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37033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Tab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7240" y="399592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table of every prediction in the session. Red = Disaster, Green = Safe.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937760" y="361188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937760" y="3611880"/>
            <a:ext cx="64008" cy="105156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0" y="37033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Sidebar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20640" y="399592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model metrics (F1, accuracy, threshold), session statistics, and clear history button.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DisasterScan | NLP + Deep Learning | Aishwarya Kumar Singh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1EB"/>
          </a:solidFill>
          <a:ln w="12700">
            <a:solidFill>
              <a:srgbClr val="F5F1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8FA971"/>
          </a:solidFill>
          <a:ln w="12700">
            <a:solidFill>
              <a:srgbClr val="8FA97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47472"/>
            <a:ext cx="1828800" cy="256032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474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Key Learnings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94360" y="1097280"/>
            <a:ext cx="4114800" cy="342900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097280"/>
            <a:ext cx="64008" cy="342900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1704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1554480"/>
            <a:ext cx="3749040" cy="594360"/>
          </a:xfrm>
          <a:prstGeom prst="rect">
            <a:avLst/>
          </a:prstGeom>
          <a:solidFill>
            <a:srgbClr val="2D6A55">
              <a:alpha val="80000"/>
            </a:srgbClr>
          </a:solidFill>
          <a:ln w="12700">
            <a:solidFill>
              <a:srgbClr val="3B6B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600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18013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identification of real disaster events from social media noise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77240" y="2249424"/>
            <a:ext cx="3749040" cy="594360"/>
          </a:xfrm>
          <a:prstGeom prst="rect">
            <a:avLst/>
          </a:prstGeom>
          <a:solidFill>
            <a:srgbClr val="2D6A55">
              <a:alpha val="80000"/>
            </a:srgbClr>
          </a:solidFill>
          <a:ln w="12700">
            <a:solidFill>
              <a:srgbClr val="3B6B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2951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24963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emergency teams wasting time on metaphorical usage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77240" y="2944368"/>
            <a:ext cx="3749040" cy="594360"/>
          </a:xfrm>
          <a:prstGeom prst="rect">
            <a:avLst/>
          </a:prstGeom>
          <a:solidFill>
            <a:srgbClr val="2D6A55">
              <a:alpha val="80000"/>
            </a:srgbClr>
          </a:solidFill>
          <a:ln w="12700">
            <a:solidFill>
              <a:srgbClr val="3B6B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9900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Scale: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31912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thousands of tweets per minute in real-time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77240" y="3639312"/>
            <a:ext cx="3749040" cy="594360"/>
          </a:xfrm>
          <a:prstGeom prst="rect">
            <a:avLst/>
          </a:prstGeom>
          <a:solidFill>
            <a:srgbClr val="2D6A55">
              <a:alpha val="80000"/>
            </a:srgbClr>
          </a:solidFill>
          <a:ln w="12700">
            <a:solidFill>
              <a:srgbClr val="3B6B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6850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 F1 — reliable enough for first-pass automated triage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92040" y="1097280"/>
            <a:ext cx="39319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92040" y="1097280"/>
            <a:ext cx="64008" cy="3429000"/>
          </a:xfrm>
          <a:prstGeom prst="rect">
            <a:avLst/>
          </a:prstGeom>
          <a:solidFill>
            <a:srgbClr val="8FA971"/>
          </a:solidFill>
          <a:ln w="12700">
            <a:solidFill>
              <a:srgbClr val="8FA9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11704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74920" y="155448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LinearSVC outperforms LSTM on this dataset size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74920" y="205740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handling is a fundamental TF-IDF limitation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74920" y="256032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(0.5) prevents over-flagging non-disasters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74920" y="306324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probabilities are essential for interpretability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74920" y="356616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logging enables audit trails and debugging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74920" y="406908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pipelines require careful artefact management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DisasterScan | NLP + Deep Learning | Aishwarya Kumar Singh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1EB"/>
          </a:solidFill>
          <a:ln w="12700">
            <a:solidFill>
              <a:srgbClr val="F5F1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47472"/>
            <a:ext cx="1828800" cy="256032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474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Scope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94360" y="1097280"/>
            <a:ext cx="41148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097280"/>
            <a:ext cx="64008" cy="342900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1704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1554480"/>
            <a:ext cx="3657600" cy="594360"/>
          </a:xfrm>
          <a:prstGeom prst="rect">
            <a:avLst/>
          </a:prstGeom>
          <a:solidFill>
            <a:srgbClr val="E8E4DD"/>
          </a:solidFill>
          <a:ln w="12700">
            <a:solidFill>
              <a:srgbClr val="E8E4D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1554480"/>
            <a:ext cx="64008" cy="59436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161848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Problem: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181965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cannot process 'there is NO wildfire' — sees keyword, misses context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77240" y="2267712"/>
            <a:ext cx="3657600" cy="594360"/>
          </a:xfrm>
          <a:prstGeom prst="rect">
            <a:avLst/>
          </a:prstGeom>
          <a:solidFill>
            <a:srgbClr val="E8E4DD"/>
          </a:solidFill>
          <a:ln w="12700">
            <a:solidFill>
              <a:srgbClr val="E8E4D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2267712"/>
            <a:ext cx="64008" cy="59436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233172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Tweets: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25328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words lack enough context for reliable classification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77240" y="2980944"/>
            <a:ext cx="3657600" cy="594360"/>
          </a:xfrm>
          <a:prstGeom prst="rect">
            <a:avLst/>
          </a:prstGeom>
          <a:solidFill>
            <a:srgbClr val="E8E4DD"/>
          </a:solidFill>
          <a:ln w="12700">
            <a:solidFill>
              <a:srgbClr val="E8E4D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2980944"/>
            <a:ext cx="64008" cy="59436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04495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Metaphors: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3246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Figurative disaster language confuses keyword-based models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77240" y="3694176"/>
            <a:ext cx="3657600" cy="594360"/>
          </a:xfrm>
          <a:prstGeom prst="rect">
            <a:avLst/>
          </a:prstGeom>
          <a:solidFill>
            <a:srgbClr val="E8E4DD"/>
          </a:solidFill>
          <a:ln w="12700">
            <a:solidFill>
              <a:srgbClr val="E8E4D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3694176"/>
            <a:ext cx="64008" cy="59436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375818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0120" y="39593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English only — no multi-language support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92040" y="1097280"/>
            <a:ext cx="3931920" cy="342900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92040" y="1097280"/>
            <a:ext cx="64008" cy="3429000"/>
          </a:xfrm>
          <a:prstGeom prst="rect">
            <a:avLst/>
          </a:prstGeom>
          <a:solidFill>
            <a:srgbClr val="8FA971"/>
          </a:solidFill>
          <a:ln w="12700">
            <a:solidFill>
              <a:srgbClr val="8FA97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11704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74920" y="15544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/ RoBERTa  </a:t>
            </a:r>
            <a:r>
              <a:rPr lang="en-US" sz="95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models understand context and negation natively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74920" y="2029968"/>
            <a:ext cx="3566160" cy="9144"/>
          </a:xfrm>
          <a:prstGeom prst="rect">
            <a:avLst/>
          </a:prstGeom>
          <a:solidFill>
            <a:srgbClr val="3B6B58">
              <a:alpha val="50000"/>
            </a:srgbClr>
          </a:solidFill>
          <a:ln w="12700">
            <a:solidFill>
              <a:srgbClr val="3B6B5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213055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 </a:t>
            </a:r>
            <a:r>
              <a:rPr lang="en-US" sz="95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Spanish, French, Arabic disaster tweets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74920" y="2606040"/>
            <a:ext cx="3566160" cy="9144"/>
          </a:xfrm>
          <a:prstGeom prst="rect">
            <a:avLst/>
          </a:prstGeom>
          <a:solidFill>
            <a:srgbClr val="3B6B58">
              <a:alpha val="50000"/>
            </a:srgbClr>
          </a:solidFill>
          <a:ln w="12700">
            <a:solidFill>
              <a:srgbClr val="3B6B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4920" y="270662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  </a:t>
            </a:r>
            <a:r>
              <a:rPr lang="en-US" sz="95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Twitter API for live monitoring dashboard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74920" y="3182112"/>
            <a:ext cx="3566160" cy="9144"/>
          </a:xfrm>
          <a:prstGeom prst="rect">
            <a:avLst/>
          </a:prstGeom>
          <a:solidFill>
            <a:srgbClr val="3B6B58">
              <a:alpha val="50000"/>
            </a:srgbClr>
          </a:solidFill>
          <a:ln w="12700">
            <a:solidFill>
              <a:srgbClr val="3B6B5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4920" y="328269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  </a:t>
            </a:r>
            <a:r>
              <a:rPr lang="en-US" sz="95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AWS/GCP deployment for enterprise-scale processing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74920" y="3758184"/>
            <a:ext cx="3566160" cy="9144"/>
          </a:xfrm>
          <a:prstGeom prst="rect">
            <a:avLst/>
          </a:prstGeom>
          <a:solidFill>
            <a:srgbClr val="3B6B58">
              <a:alpha val="50000"/>
            </a:srgbClr>
          </a:solidFill>
          <a:ln w="12700">
            <a:solidFill>
              <a:srgbClr val="3B6B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74920" y="38587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Learning  </a:t>
            </a:r>
            <a:r>
              <a:rPr lang="en-US" sz="95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feedback loop to improve edge cases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DisasterScan | NLP + Deep Learning | Aishwarya Kumar Singh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2B22"/>
          </a:solidFill>
          <a:ln w="12700">
            <a:solidFill>
              <a:srgbClr val="0D2B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50292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143000"/>
            <a:ext cx="8046720" cy="457200"/>
          </a:xfrm>
          <a:prstGeom prst="rect">
            <a:avLst/>
          </a:prstGeom>
          <a:solidFill>
            <a:srgbClr val="2D6A55">
              <a:alpha val="70000"/>
            </a:srgbClr>
          </a:solidFill>
          <a:ln w="12700">
            <a:solidFill>
              <a:srgbClr val="3B6B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188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 successfully implemented — from raw CSV to deployed Streamlit app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691640"/>
            <a:ext cx="8046720" cy="457200"/>
          </a:xfrm>
          <a:prstGeom prst="rect">
            <a:avLst/>
          </a:prstGeom>
          <a:solidFill>
            <a:srgbClr val="2D6A55">
              <a:alpha val="50000"/>
            </a:srgbClr>
          </a:solidFill>
          <a:ln w="12700">
            <a:solidFill>
              <a:srgbClr val="3B6B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373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classical ML models + 1 LSTM deep learning model trained and evaluated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240280"/>
            <a:ext cx="8046720" cy="457200"/>
          </a:xfrm>
          <a:prstGeom prst="rect">
            <a:avLst/>
          </a:prstGeom>
          <a:solidFill>
            <a:srgbClr val="2D6A55">
              <a:alpha val="70000"/>
            </a:srgbClr>
          </a:solidFill>
          <a:ln w="12700">
            <a:solidFill>
              <a:srgbClr val="3B6B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286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 with TF-IDF selected as production model (~80% F1, ~81% accuracy)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788920"/>
            <a:ext cx="8046720" cy="457200"/>
          </a:xfrm>
          <a:prstGeom prst="rect">
            <a:avLst/>
          </a:prstGeom>
          <a:solidFill>
            <a:srgbClr val="2D6A55">
              <a:alpha val="50000"/>
            </a:srgbClr>
          </a:solidFill>
          <a:ln w="12700">
            <a:solidFill>
              <a:srgbClr val="3B6B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834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ensures non-disaster tweets are not falsely flagged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337560"/>
            <a:ext cx="8046720" cy="457200"/>
          </a:xfrm>
          <a:prstGeom prst="rect">
            <a:avLst/>
          </a:prstGeom>
          <a:solidFill>
            <a:srgbClr val="2D6A55">
              <a:alpha val="70000"/>
            </a:srgbClr>
          </a:solidFill>
          <a:ln w="12700">
            <a:solidFill>
              <a:srgbClr val="3B6B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383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logging across all 6 notebooks ensures traceability and auditability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886200"/>
            <a:ext cx="8046720" cy="457200"/>
          </a:xfrm>
          <a:prstGeom prst="rect">
            <a:avLst/>
          </a:prstGeom>
          <a:solidFill>
            <a:srgbClr val="2D6A55">
              <a:alpha val="50000"/>
            </a:srgbClr>
          </a:solidFill>
          <a:ln w="12700">
            <a:solidFill>
              <a:srgbClr val="3B6B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classification available at localhost:8501 via Streamlit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22"/>
          </a:solidFill>
          <a:ln w="12700">
            <a:solidFill>
              <a:srgbClr val="0D2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8FA971"/>
          </a:solidFill>
          <a:ln w="12700">
            <a:solidFill>
              <a:srgbClr val="8FA97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C4C3C">
              <a:alpha val="70000"/>
            </a:srgbClr>
          </a:solidFill>
          <a:ln w="12700">
            <a:solidFill>
              <a:srgbClr val="1C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2296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DisasterScan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3657600" cy="4572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560320"/>
            <a:ext cx="3931920" cy="1828800"/>
          </a:xfrm>
          <a:prstGeom prst="rect">
            <a:avLst/>
          </a:prstGeom>
          <a:solidFill>
            <a:srgbClr val="2D6A55"/>
          </a:solidFill>
          <a:ln w="12700">
            <a:solidFill>
              <a:srgbClr val="2D6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560320"/>
            <a:ext cx="64008" cy="182880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651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Aishwarya Kumar Singh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9992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– NextHikes IT Solutions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331012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aishsingh702@gmail.com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5661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github.com/aishks14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12080" y="1188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DisasterScan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212080" y="16916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Tweet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Classification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12080" y="2514600"/>
            <a:ext cx="1600200" cy="82296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12080" y="25603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12080" y="29718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95160" y="2514600"/>
            <a:ext cx="1600200" cy="82296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95160" y="25603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7,613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95160" y="29718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12080" y="3520440"/>
            <a:ext cx="1600200" cy="82296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212080" y="35661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212080" y="39776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95160" y="3520440"/>
            <a:ext cx="1600200" cy="822960"/>
          </a:xfrm>
          <a:prstGeom prst="rect">
            <a:avLst/>
          </a:prstGeom>
          <a:solidFill>
            <a:srgbClr val="1C4C3C"/>
          </a:solidFill>
          <a:ln w="12700">
            <a:solidFill>
              <a:srgbClr val="1C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5160" y="35661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95160" y="39776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1907</Words>
  <Application>Microsoft Office PowerPoint</Application>
  <PresentationFormat>On-screen Show (16:9)</PresentationFormat>
  <Paragraphs>390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DisasterScan — Disaster Tweet Classification</dc:title>
  <dc:subject>PptxGenJS Presentation</dc:subject>
  <dc:creator>Aishwarya Kumar Singh</dc:creator>
  <cp:lastModifiedBy>Aishwarya Kumar Singh</cp:lastModifiedBy>
  <cp:revision>2</cp:revision>
  <dcterms:created xsi:type="dcterms:W3CDTF">2026-03-22T09:39:00Z</dcterms:created>
  <dcterms:modified xsi:type="dcterms:W3CDTF">2026-03-22T09:43:42Z</dcterms:modified>
</cp:coreProperties>
</file>